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>
              <a:gd name="adj" fmla="val 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3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25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70432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200" y="1188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FFFFFF"/>
                </a:solidFill>
                <a:latin typeface="Verdana"/>
              </a:rPr>
              <a:t>HEALTH SANJAL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 Unified Patient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Access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063240"/>
            <a:ext cx="502920" cy="73152"/>
          </a:xfrm>
          <a:prstGeom prst="roundRect">
            <a:avLst/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CE6FA"/>
                </a:solidFill>
                <a:latin typeface="Calibri"/>
              </a:rPr>
              <a:t>One patient ID. Any hospital, pharmacy, or authorized system can securely pull the full picture, and get real time safety alerts before harm happens.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39496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5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GOOD HEALTH &amp; WELL BEING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5394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5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0" y="53949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BRAIN CIRCUIT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F6FED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A2333"/>
                </a:solidFill>
                <a:latin typeface="Verdana"/>
              </a:rPr>
              <a:t>Health data is scattered.</a:t>
            </a:r>
          </a:p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A2333"/>
                </a:solidFill>
                <a:latin typeface="Verdana"/>
              </a:rPr>
              <a:t>Safety falls through the cracks.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54573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" y="24048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2515514"/>
            <a:ext cx="281635" cy="281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301752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Fragmented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74720"/>
            <a:ext cx="3033674" cy="152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Hospital A, Clinic B, and paper lab reports never talk to each 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2148840"/>
            <a:ext cx="354573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9010" y="24048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652" y="2515514"/>
            <a:ext cx="281635" cy="2816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9010" y="301752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Repeated &amp; wasted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9010" y="3474720"/>
            <a:ext cx="3033674" cy="152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Doctors end up asking the same questions again, and reports or X ray films get lost.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2148840"/>
            <a:ext cx="354573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53348" y="24048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990" y="2515514"/>
            <a:ext cx="281635" cy="2816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53348" y="301752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Dangerous polypharmacy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348" y="3474720"/>
            <a:ext cx="3033674" cy="152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Patients seeing multiple doctors often end up on five to twelve or more medications, with no one checking how they interact.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E4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F6FED"/>
                </a:solidFill>
                <a:latin typeface="Calibri"/>
              </a:rPr>
              <a:t>The root cause is simple: there's no single, trusted, portable record that follows the patient to every doctor they see.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F6FED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PROBLEM SOLVING,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A2333"/>
                </a:solidFill>
                <a:latin typeface="Verdana"/>
              </a:rPr>
              <a:t>One patient ID. Any provider.</a:t>
            </a:r>
          </a:p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A2333"/>
                </a:solidFill>
                <a:latin typeface="Verdana"/>
              </a:rPr>
              <a:t>Real time safety alerts.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54573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" y="24048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2515514"/>
            <a:ext cx="281635" cy="281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301752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1. 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74720"/>
            <a:ext cx="303367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Patient is looked up by Patient ID or QR code, no single physical token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2148840"/>
            <a:ext cx="354573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9010" y="24048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652" y="2515514"/>
            <a:ext cx="281635" cy="2816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9010" y="301752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2. Unify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9010" y="3474720"/>
            <a:ext cx="303367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Our API pulls prescriptions and allergies from every hospital or clinic the patient has ever visited.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2148840"/>
            <a:ext cx="354573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53348" y="24048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990" y="2515514"/>
            <a:ext cx="281635" cy="2816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53348" y="301752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3. Guard &amp;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348" y="3474720"/>
            <a:ext cx="303367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System checks the new prescription or combination against everything else, and instantly returns a flag to the doctor and patient.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11094415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91032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31" y="4994819"/>
            <a:ext cx="215066" cy="2150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71600" y="4800600"/>
            <a:ext cx="100885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688"/>
                </a:solidFill>
                <a:latin typeface="Calibri"/>
              </a:rPr>
              <a:t>What makes this different: it's an access layer. Any authorized doctor, pharmacy, or system can pull the same trusted record through our API, from any hospital, using just the patient's 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F6FED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THE API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A2333"/>
                </a:solidFill>
                <a:latin typeface="Verdana"/>
              </a:rPr>
              <a:t>A network, not a silo.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45738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" y="18562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1966874"/>
            <a:ext cx="281635" cy="281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246888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Doctors, Any Hospital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26080"/>
            <a:ext cx="3033674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A doctor at Hospital B can pull a patient's full history from Hospital A the moment they're identified, no transfer requests, no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9010" y="18562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652" y="1966874"/>
            <a:ext cx="281635" cy="2816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9010" y="246888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Pharmacies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9010" y="2926080"/>
            <a:ext cx="3033674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Before dispensing, pharmacies call the API to check the new drug against everything the patient is already taking, catching dangerous combinations at the counter.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00200"/>
            <a:ext cx="3545738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53348" y="18562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990" y="1966874"/>
            <a:ext cx="281635" cy="2816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53348" y="2468880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2333"/>
                </a:solidFill>
                <a:latin typeface="Verdana"/>
              </a:rPr>
              <a:t>Government &amp; NGOs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348" y="2926080"/>
            <a:ext cx="3033674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Aggregated, anonymized data feeds public health dashboards: outbreak signals, medication misuse patterns, targeted precaution campaigns.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E4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F6FED"/>
                </a:solidFill>
                <a:latin typeface="Calibri"/>
              </a:rPr>
              <a:t>One core API, three access levels: read to view record, write to add prescription or lab, and check for interaction or combination query, all logged and consent based.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F6FED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A2333"/>
                </a:solidFill>
                <a:latin typeface="Verdana"/>
              </a:rPr>
              <a:t>Feasible because most of it already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We're not inventing new medical science or new infrastructure. We're connecting proven pieces with one new layer in between.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4100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WHAT WE ACTUALLY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65960"/>
            <a:ext cx="54100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6B7688"/>
                </a:solidFill>
                <a:latin typeface="Calibri"/>
              </a:rPr>
              <a:t>ALREADY EXISTS, WE REUSE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" y="2320747"/>
            <a:ext cx="204825" cy="204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22219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333"/>
                </a:solidFill>
                <a:latin typeface="Verdana"/>
              </a:rPr>
              <a:t>The unification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96312"/>
            <a:ext cx="49071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Links one patient ID to records scattered across many hospitals into a single queryable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24028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474" y="2320747"/>
            <a:ext cx="204825" cy="204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35927" y="22219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333"/>
                </a:solidFill>
                <a:latin typeface="Verdana"/>
              </a:rPr>
              <a:t>Patient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2496312"/>
            <a:ext cx="49071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Most people already have a government or customer ID we can key records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280867"/>
            <a:ext cx="204825" cy="204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1560" y="318211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333"/>
                </a:solidFill>
                <a:latin typeface="Verdana"/>
              </a:rPr>
              <a:t>The real time rule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56432"/>
            <a:ext cx="49071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Wraps clinical guidelines into an API that checks new prescriptions instantly and flags conflicts.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20040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474" y="3280867"/>
            <a:ext cx="204825" cy="204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35927" y="318211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333"/>
                </a:solidFill>
                <a:latin typeface="Verdana"/>
              </a:rPr>
              <a:t>Cloud databases &amp; REST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927" y="3456432"/>
            <a:ext cx="49071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Standard, well understood infrastructure, no novel engineering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" y="4240987"/>
            <a:ext cx="204825" cy="2048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1560" y="414223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333"/>
                </a:solidFill>
                <a:latin typeface="Verdana"/>
              </a:rPr>
              <a:t>Consent &amp;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416552"/>
            <a:ext cx="49071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Governs exactly who can read, write, or check, with a full audit log per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416052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474" y="4240987"/>
            <a:ext cx="204825" cy="2048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35927" y="414223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333"/>
                </a:solidFill>
                <a:latin typeface="Verdana"/>
              </a:rPr>
              <a:t>Clinical interaction guidelines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5927" y="4416552"/>
            <a:ext cx="49071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Published frameworks (drug interaction databases, Beers Criteria, STOPP/START) define what's dangerous.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E4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39496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F6FED"/>
                </a:solidFill>
                <a:latin typeface="Calibri"/>
              </a:rPr>
              <a:t>In short, the hard medical and infrastructure problems are already solved by others. Our job is the connective layer.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 dirty="0">
                <a:solidFill>
                  <a:srgbClr val="2F6FED"/>
                </a:solidFill>
                <a:latin typeface="Calibri"/>
              </a:rPr>
              <a:t>0</a:t>
            </a:r>
            <a:r>
              <a:rPr lang="en-US" sz="1200" b="1" i="0" spc="100" dirty="0">
                <a:solidFill>
                  <a:srgbClr val="2F6FED"/>
                </a:solidFill>
                <a:latin typeface="Calibri"/>
              </a:rPr>
              <a:t>5</a:t>
            </a:r>
            <a:endParaRPr sz="1200" b="1" i="0" spc="100" dirty="0">
              <a:solidFill>
                <a:srgbClr val="2F6FE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WHY RULE BASED, NOT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A2333"/>
                </a:solidFill>
                <a:latin typeface="Verdana"/>
              </a:rPr>
              <a:t>Explainable today. Smarter tomorrow.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In healthcare, a doctor needs to know why something's flagged, not just that a model said so. So we start with rules, not predictions.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10047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33007" y="1828800"/>
            <a:ext cx="5410047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614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100">
                <a:solidFill>
                  <a:srgbClr val="2F6FED"/>
                </a:solidFill>
                <a:latin typeface="Calibri"/>
              </a:rPr>
              <a:t>PHASE 1, NOW: RULE 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2029968"/>
            <a:ext cx="48614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100">
                <a:solidFill>
                  <a:srgbClr val="1FBF9C"/>
                </a:solidFill>
                <a:latin typeface="Calibri"/>
              </a:rPr>
              <a:t>PHASE 2, LATER: RULES + AI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9736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395728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Checks against published guidelines (drug interaction databases, Beers Criteria, STOPP/START)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172968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108960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Every flag traces to a specific, citable rule, fully explainable to doctors and regulators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86200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822192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6B7688"/>
                </a:solidFill>
                <a:latin typeface="Calibri"/>
              </a:rPr>
              <a:t>Cheap to run: simple lookups, no model hosting or inference cost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599432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535424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Realistic to build and validate within the hackathon timeframe</a:t>
            </a:r>
          </a:p>
        </p:txBody>
      </p:sp>
      <p:sp>
        <p:nvSpPr>
          <p:cNvPr id="18" name="Oval 17"/>
          <p:cNvSpPr/>
          <p:nvPr/>
        </p:nvSpPr>
        <p:spPr>
          <a:xfrm>
            <a:off x="6507327" y="2459736"/>
            <a:ext cx="73152" cy="73152"/>
          </a:xfrm>
          <a:prstGeom prst="ellipse">
            <a:avLst/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08495" y="2395728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Once we have real, consented usage data across many hospitals, layer in an ML model</a:t>
            </a:r>
          </a:p>
        </p:txBody>
      </p:sp>
      <p:sp>
        <p:nvSpPr>
          <p:cNvPr id="20" name="Oval 19"/>
          <p:cNvSpPr/>
          <p:nvPr/>
        </p:nvSpPr>
        <p:spPr>
          <a:xfrm>
            <a:off x="6507327" y="3172968"/>
            <a:ext cx="73152" cy="73152"/>
          </a:xfrm>
          <a:prstGeom prst="ellipse">
            <a:avLst/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8495" y="3108960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AI catches softer, secondary risk patterns rules alone can't (multi drug, dosage dependent)</a:t>
            </a:r>
          </a:p>
        </p:txBody>
      </p:sp>
      <p:sp>
        <p:nvSpPr>
          <p:cNvPr id="22" name="Oval 21"/>
          <p:cNvSpPr/>
          <p:nvPr/>
        </p:nvSpPr>
        <p:spPr>
          <a:xfrm>
            <a:off x="6507327" y="3886200"/>
            <a:ext cx="73152" cy="73152"/>
          </a:xfrm>
          <a:prstGeom prst="ellipse">
            <a:avLst/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08495" y="3822192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Rules still handle the clear cut, high confidence, explainable cases. AI never replaces them</a:t>
            </a:r>
          </a:p>
        </p:txBody>
      </p:sp>
      <p:sp>
        <p:nvSpPr>
          <p:cNvPr id="24" name="Oval 23"/>
          <p:cNvSpPr/>
          <p:nvPr/>
        </p:nvSpPr>
        <p:spPr>
          <a:xfrm>
            <a:off x="6507327" y="4599432"/>
            <a:ext cx="73152" cy="73152"/>
          </a:xfrm>
          <a:prstGeom prst="ellipse">
            <a:avLst/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08495" y="4535424"/>
            <a:ext cx="466023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Calibri"/>
              </a:rPr>
              <a:t>Same pattern used in fraud detection: rules for certainty, ML for the fuzzy edge cases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E4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39496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F6FED"/>
                </a:solidFill>
                <a:latin typeface="Calibri"/>
              </a:rPr>
              <a:t>We're never choosing AI over trust, we're earning the right to add AI once we have the data to do it responsibly.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 dirty="0">
                <a:solidFill>
                  <a:srgbClr val="2F6FED"/>
                </a:solidFill>
                <a:latin typeface="Calibri"/>
              </a:rPr>
              <a:t>0</a:t>
            </a:r>
            <a:r>
              <a:rPr lang="en-US" sz="1200" b="1" i="0" spc="100" dirty="0">
                <a:solidFill>
                  <a:srgbClr val="2F6FED"/>
                </a:solidFill>
                <a:latin typeface="Calibri"/>
              </a:rPr>
              <a:t>6</a:t>
            </a:r>
            <a:endParaRPr sz="1200" b="1" i="0" spc="100" dirty="0">
              <a:solidFill>
                <a:srgbClr val="2F6FE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A2333"/>
                </a:solidFill>
                <a:latin typeface="Verdana"/>
              </a:rPr>
              <a:t>From one clinic to a national health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60215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14495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2333"/>
                </a:solidFill>
                <a:latin typeface="Verdana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214495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One hospital or clinic network onboarded; ID lookup.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0793" y="33375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6B768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9393" y="1965960"/>
            <a:ext cx="260215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07993" y="2194560"/>
            <a:ext cx="457200" cy="457200"/>
          </a:xfrm>
          <a:prstGeom prst="ellipse">
            <a:avLst/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7993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2834640"/>
            <a:ext cx="214495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2333"/>
                </a:solidFill>
                <a:latin typeface="Verdana"/>
              </a:rPr>
              <a:t>City wide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993" y="3474720"/>
            <a:ext cx="214495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Multiple hospitals, labs &amp; pharmacies connected; shared patient record graph grows.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1547" y="33375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6B768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1965960"/>
            <a:ext cx="260215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38747" y="2194560"/>
            <a:ext cx="457200" cy="457200"/>
          </a:xfrm>
          <a:prstGeom prst="ellipse">
            <a:avLst/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8747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747" y="2834640"/>
            <a:ext cx="214495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2333"/>
                </a:solidFill>
                <a:latin typeface="Verdana"/>
              </a:rPr>
              <a:t>National Health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747" y="3474720"/>
            <a:ext cx="214495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Government partnership links Health Sanjal to a national identity &amp; insurance 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2301" y="33375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6B7688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0901" y="1965960"/>
            <a:ext cx="2602153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69501" y="2194560"/>
            <a:ext cx="457200" cy="457200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69501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9501" y="2834640"/>
            <a:ext cx="214495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2333"/>
                </a:solidFill>
                <a:latin typeface="Verdana"/>
              </a:rPr>
              <a:t>Regional / Medical Tourism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9501" y="3474720"/>
            <a:ext cx="214495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Cross border record portability for medical tourism &amp; regional health corridors.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E4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F6FED"/>
                </a:solidFill>
                <a:latin typeface="Calibri"/>
              </a:rPr>
              <a:t>The data network gets more valuable as it grows, more connected providers means richer interaction checking and stronger institutional demand.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 dirty="0">
                <a:solidFill>
                  <a:srgbClr val="2F6FED"/>
                </a:solidFill>
                <a:latin typeface="Calibri"/>
              </a:rPr>
              <a:t>0</a:t>
            </a:r>
            <a:r>
              <a:rPr lang="en-US" sz="1200" b="1" i="0" spc="100" dirty="0">
                <a:solidFill>
                  <a:srgbClr val="2F6FED"/>
                </a:solidFill>
                <a:latin typeface="Calibri"/>
              </a:rPr>
              <a:t>7</a:t>
            </a:r>
            <a:endParaRPr sz="1200" b="1" i="0" spc="100" dirty="0">
              <a:solidFill>
                <a:srgbClr val="2F6FE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BUSINESS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408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2700" b="1" i="0" dirty="0">
                <a:solidFill>
                  <a:srgbClr val="1A2333"/>
                </a:solidFill>
                <a:latin typeface="Verdana"/>
              </a:rPr>
              <a:t>Three</a:t>
            </a:r>
            <a:r>
              <a:rPr sz="2700" b="1" i="0" dirty="0">
                <a:solidFill>
                  <a:srgbClr val="1A2333"/>
                </a:solidFill>
                <a:latin typeface="Verdana"/>
              </a:rPr>
              <a:t> tiers, one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8"/>
                </a:solidFill>
                <a:latin typeface="Calibri"/>
              </a:rPr>
              <a:t>Bigger institutions already have their own systems, they just need access. Smaller facilities don't have a system at all, they need the whole 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54573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3088538" cy="347472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08853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FFFFFF"/>
                </a:solidFill>
                <a:latin typeface="Calibri"/>
              </a:rPr>
              <a:t>API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2909" y="28163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493" y="2916936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401568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A2333"/>
                </a:solidFill>
                <a:latin typeface="Verdana"/>
              </a:rPr>
              <a:t>Big Hospitals &amp; Pharmacies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308853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 i="0">
                <a:solidFill>
                  <a:srgbClr val="6B7688"/>
                </a:solidFill>
                <a:latin typeface="Calibri"/>
              </a:rPr>
              <a:t>Already run their own DBMS or EMR, they buy pay per call API tokens to plug into our record lookup and drug combination safety check network.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2103120"/>
            <a:ext cx="354573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51578" y="2286000"/>
            <a:ext cx="3088538" cy="347472"/>
          </a:xfrm>
          <a:prstGeom prst="roundRect">
            <a:avLst>
              <a:gd name="adj" fmla="val 50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1578" y="2286000"/>
            <a:ext cx="308853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FFFFFF"/>
                </a:solidFill>
                <a:latin typeface="Calibri"/>
              </a:rPr>
              <a:t>FULL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67247" y="28163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831" y="2916936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5858" y="3401568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A2333"/>
                </a:solidFill>
                <a:latin typeface="Verdana"/>
              </a:rPr>
              <a:t>Independent Clinics &amp; Low Tier Hospitals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3931920"/>
            <a:ext cx="308853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 i="0">
                <a:solidFill>
                  <a:srgbClr val="6B7688"/>
                </a:solidFill>
                <a:latin typeface="Calibri"/>
              </a:rPr>
              <a:t>No existing DBMS to plug into, so we sell or license them our complete hosted system, not just API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2103120"/>
            <a:ext cx="354573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5916" y="2286000"/>
            <a:ext cx="3088538" cy="347472"/>
          </a:xfrm>
          <a:prstGeom prst="roundRect">
            <a:avLst>
              <a:gd name="adj" fmla="val 50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5916" y="2286000"/>
            <a:ext cx="308853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FFFFFF"/>
                </a:solidFill>
                <a:latin typeface="Calibri"/>
              </a:rPr>
              <a:t>DATA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1585" y="28163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169" y="2916936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80196" y="3401568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A2333"/>
                </a:solidFill>
                <a:latin typeface="Verdana"/>
              </a:rPr>
              <a:t>Government / NGOs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5916" y="3931920"/>
            <a:ext cx="308853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 i="0">
                <a:solidFill>
                  <a:srgbClr val="6B7688"/>
                </a:solidFill>
                <a:latin typeface="Calibri"/>
              </a:rPr>
              <a:t>Paid access to anonymized population health data for precaution campaigns and policy.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27608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1FBF9C"/>
                </a:solidFill>
                <a:latin typeface="Calibri"/>
              </a:rPr>
              <a:t>“Big players pay us for access. Small facilities pay us to exist. Either way, our network, and the value of the data flowing through it, keeps growing.”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5457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DCE6FA"/>
                </a:solidFill>
                <a:latin typeface="Calibri"/>
              </a:rPr>
              <a:t>Consumers stay freemium throughout.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 dirty="0">
                <a:solidFill>
                  <a:srgbClr val="2F6FED"/>
                </a:solidFill>
                <a:latin typeface="Calibri"/>
              </a:rPr>
              <a:t>0</a:t>
            </a:r>
            <a:r>
              <a:rPr lang="en-US" sz="1200" b="1" spc="100" dirty="0">
                <a:solidFill>
                  <a:srgbClr val="2F6FED"/>
                </a:solidFill>
                <a:latin typeface="Calibri"/>
              </a:rPr>
              <a:t>8</a:t>
            </a:r>
            <a:endParaRPr sz="1200" b="1" i="0" spc="100" dirty="0">
              <a:solidFill>
                <a:srgbClr val="2F6FE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A2333"/>
                </a:solidFill>
                <a:latin typeface="Verdana"/>
              </a:rPr>
              <a:t>What we'll demo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45738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47189" y="21031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90" y="2223821"/>
            <a:ext cx="307238" cy="3072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91458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2F6FED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799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A2333"/>
                </a:solidFill>
                <a:latin typeface="Verdana"/>
              </a:rPr>
              <a:t>ID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99709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Mock patient looked up by ID: prescriptions, allergies, blood group, chronic conditions pulled from multiple hospitals.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783080"/>
            <a:ext cx="3545738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21527" y="21031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8" y="2223821"/>
            <a:ext cx="307238" cy="3072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65796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FBF9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2880360"/>
            <a:ext cx="31799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A2333"/>
                </a:solidFill>
                <a:latin typeface="Verdana"/>
              </a:rPr>
              <a:t>Doctor/Pharmacy API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298" y="3474720"/>
            <a:ext cx="299709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Simulated API request from a second hospital or pharmacy, both instantly return the unified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783080"/>
            <a:ext cx="3545738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95865" y="21031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566" y="2223821"/>
            <a:ext cx="307238" cy="3072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40135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F0A63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196" y="2880360"/>
            <a:ext cx="31799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A2333"/>
                </a:solidFill>
                <a:latin typeface="Verdana"/>
              </a:rPr>
              <a:t>Live interaction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3474720"/>
            <a:ext cx="299709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Add a new prescription or combination, rule engine flags a conflict in real time, on screen.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E4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F6FED"/>
                </a:solidFill>
                <a:latin typeface="Calibri"/>
              </a:rPr>
              <a:t>Built as a rule based engine on known clinical guidelines: realistic scope, real demonstrable value.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spc="100" dirty="0">
                <a:solidFill>
                  <a:srgbClr val="2F6FED"/>
                </a:solidFill>
                <a:latin typeface="Calibri"/>
              </a:rPr>
              <a:t>09</a:t>
            </a:r>
            <a:endParaRPr sz="1200" b="1" i="0" spc="100" dirty="0">
              <a:solidFill>
                <a:srgbClr val="2F6FE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6B7688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A2333"/>
                </a:solidFill>
                <a:latin typeface="Verdana"/>
              </a:rPr>
              <a:t>Impact, in one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" y="1985162"/>
            <a:ext cx="281635" cy="281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1600200"/>
            <a:ext cx="953993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1A2333"/>
                </a:solidFill>
                <a:latin typeface="Calibri"/>
              </a:rPr>
              <a:t>One patient ID. Every hospital, pharmacy, and provider, unified. If something's dangerous, doctors and pharmacists find out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2602153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" y="32278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4" y="3338474"/>
            <a:ext cx="281635" cy="2816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" y="3840480"/>
            <a:ext cx="209008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A2333"/>
                </a:solidFill>
                <a:latin typeface="Verdana"/>
              </a:rP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209008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A new lens on medication safety: catching dangerous overlaps across providers.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9393" y="2971800"/>
            <a:ext cx="2602153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35425" y="32278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067" y="3338474"/>
            <a:ext cx="281635" cy="2816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425" y="3840480"/>
            <a:ext cx="209008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A2333"/>
                </a:solidFill>
                <a:latin typeface="Verdana"/>
              </a:rPr>
              <a:t>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425" y="4297680"/>
            <a:ext cx="209008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No new science required. Built entirely on clinical rules and infrastructure that already exist and already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971800"/>
            <a:ext cx="2602153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66179" y="32278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821" y="3338474"/>
            <a:ext cx="281635" cy="28163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66179" y="3840480"/>
            <a:ext cx="209008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A2333"/>
                </a:solidFill>
                <a:latin typeface="Verdana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6179" y="4297680"/>
            <a:ext cx="209008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688"/>
                </a:solidFill>
                <a:latin typeface="Calibri"/>
              </a:rPr>
              <a:t>Every hospital or pharmacy that joins makes the network safer and more valuable for everyone already on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0901" y="2971800"/>
            <a:ext cx="2602153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96933" y="32278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7575" y="3338474"/>
            <a:ext cx="281635" cy="2816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96933" y="3840480"/>
            <a:ext cx="209008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A2333"/>
                </a:solidFill>
                <a:latin typeface="Verdana"/>
              </a:rPr>
              <a:t>Business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6933" y="4297680"/>
            <a:ext cx="2090089" cy="590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dirty="0">
                <a:solidFill>
                  <a:srgbClr val="6B7688"/>
                </a:solidFill>
                <a:latin typeface="Calibri"/>
              </a:rPr>
              <a:t>API, multiple paying customers: hospitals, pharmacies, governments, and patients themselves.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688"/>
                </a:solidFill>
                <a:latin typeface="Calibri"/>
              </a:rPr>
              <a:t>Health Sanjal, a Unified Patient Access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6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754880"/>
            <a:ext cx="4114800" cy="4114800"/>
          </a:xfrm>
          <a:prstGeom prst="ellipse">
            <a:avLst/>
          </a:prstGeom>
          <a:solidFill>
            <a:srgbClr val="0E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84367" y="1737360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1FB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418" y="1918411"/>
            <a:ext cx="460857" cy="4608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834640"/>
            <a:ext cx="94457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Verdan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DCE6FA"/>
                </a:solidFill>
                <a:latin typeface="Calibri"/>
              </a:rPr>
              <a:t>Health Sanjal, one patient ID that unifies care across every hospital, pharmacy, and system that needs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BF9C"/>
                </a:solidFill>
                <a:latin typeface="Calibri"/>
              </a:rPr>
              <a:t>Let's build safer, unified, connected healthcare.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1352</Words>
  <Application>Microsoft Office PowerPoint</Application>
  <PresentationFormat>Widescreen</PresentationFormat>
  <Paragraphs>152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Darshan Sanjyal</dc:creator>
  <cp:keywords/>
  <dc:description>generated using python-pptx</dc:description>
  <cp:lastModifiedBy>Darshan Sanjyal</cp:lastModifiedBy>
  <cp:revision>2</cp:revision>
  <dcterms:created xsi:type="dcterms:W3CDTF">2013-01-27T09:14:16Z</dcterms:created>
  <dcterms:modified xsi:type="dcterms:W3CDTF">2026-07-26T03:42:33Z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2026-07-26T03:31:35Z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940b830c-b32f-4cf0-85b2-3a25201b0fcd</vt:lpwstr>
  </property>
  <property fmtid="{D5CDD505-2E9C-101B-9397-08002B2CF9AE}" pid="7" name="MSIP_Label_defa4170-0d19-0005-0004-bc88714345d2_ActionId">
    <vt:lpwstr>8e645c2c-6f12-4a66-83ce-8c16509bf703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